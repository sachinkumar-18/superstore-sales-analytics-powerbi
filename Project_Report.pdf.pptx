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cover_detail.png"/>
          <p:cNvPicPr>
            <a:picLocks noChangeAspect="1"/>
          </p:cNvPicPr>
          <p:nvPr/>
        </p:nvPicPr>
        <p:blipFill>
          <a:blip r:embed="rId2"/>
          <a:srcRect t="30055" b="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0"/>
            <a:ext cx="45720" cy="68580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4A72C"/>
                </a:solidFill>
                <a:latin typeface="Aptos"/>
              </a:rPr>
              <a:t>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79476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 Display"/>
              </a:rPr>
              <a:t>Retail Sales
Performance
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85032"/>
            <a:ext cx="3611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5DFE6"/>
                </a:solidFill>
                <a:latin typeface="Aptos"/>
              </a:rPr>
              <a:t>A Power BI dashboard for evidence-based retail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0176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Sachin Kumar · Mohd. Ismaeel Zaidi · Shubham Karki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7C4D0"/>
                </a:solidFill>
                <a:latin typeface="Aptos"/>
              </a:rPr>
              <a:t>Course PETV103  | 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The dashboard turns 4,200 orders into one clear decision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0B1F33"/>
                </a:solidFill>
                <a:latin typeface="Aptos Display"/>
              </a:rPr>
              <a:t>$10.04M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E6C7A"/>
                </a:solidFill>
                <a:latin typeface="Aptos"/>
              </a:rPr>
              <a:t>sales across 2022–2025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600200"/>
            <a:ext cx="36576" cy="43434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554480"/>
            <a:ext cx="457200" cy="457200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6362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536192"/>
            <a:ext cx="6016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Healthy overall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1920240"/>
            <a:ext cx="6016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A"/>
                </a:solidFill>
                <a:latin typeface="Aptos"/>
              </a:rPr>
              <a:t>$1.39M profit at a 13.86% margin demonstrates a profitable business at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26080"/>
            <a:ext cx="457200" cy="457200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93522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907792"/>
            <a:ext cx="6016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Furniture hides the biggest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291840"/>
            <a:ext cx="6016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A"/>
                </a:solidFill>
                <a:latin typeface="Aptos"/>
              </a:rPr>
              <a:t>Furniture contributes $2.22M sales but only a 2.39% margin because heavy discounts erode profit.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4297680"/>
            <a:ext cx="457200" cy="457200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306824"/>
            <a:ext cx="457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4279392"/>
            <a:ext cx="6016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 Display"/>
              </a:rPr>
              <a:t>Action is specific—not generic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4663440"/>
            <a:ext cx="6016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E6C7A"/>
                </a:solidFill>
                <a:latin typeface="Aptos"/>
              </a:rPr>
              <a:t>Cap high discount tiers, protect Technology growth, and strengthen loyalty for the Consumer segment.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The core challenge was fragmented visibility across sales and profit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Problem statement and 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886200" cy="4462272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0195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59152"/>
            <a:ext cx="33101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Managers could not quickly see which regions, products, customers, or discount levels were driving revenue—or destroying margin.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92624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4D0DA"/>
                </a:solidFill>
                <a:latin typeface="Aptos"/>
              </a:rPr>
              <a:t>Need: one interactive page that supports fast, evidence-based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642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21408"/>
            <a:ext cx="6537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Measure performance — </a:t>
            </a:r>
            <a:r>
              <a:rPr sz="1500">
                <a:solidFill>
                  <a:srgbClr val="14283B"/>
                </a:solidFill>
                <a:latin typeface="Aptos"/>
              </a:rPr>
              <a:t>sales, profit, orders, margin and discount.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Find winners and risks — </a:t>
            </a:r>
            <a:r>
              <a:rPr sz="1500">
                <a:solidFill>
                  <a:srgbClr val="14283B"/>
                </a:solidFill>
                <a:latin typeface="Aptos"/>
              </a:rPr>
              <a:t>categories, sub-categories and customers.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Compare geography — </a:t>
            </a:r>
            <a:r>
              <a:rPr sz="1500">
                <a:solidFill>
                  <a:srgbClr val="14283B"/>
                </a:solidFill>
                <a:latin typeface="Aptos"/>
              </a:rPr>
              <a:t>region, state and city performance.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Explain margin erosion — </a:t>
            </a:r>
            <a:r>
              <a:rPr sz="1500">
                <a:solidFill>
                  <a:srgbClr val="14283B"/>
                </a:solidFill>
                <a:latin typeface="Aptos"/>
              </a:rPr>
              <a:t>discount versus profitability.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Enable exploration — </a:t>
            </a:r>
            <a:r>
              <a:rPr sz="1500">
                <a:solidFill>
                  <a:srgbClr val="14283B"/>
                </a:solidFill>
                <a:latin typeface="Aptos"/>
              </a:rPr>
              <a:t>slicers, cross-filtering and reset controls.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6B4BA5"/>
                </a:solidFill>
                <a:latin typeface="Aptos"/>
              </a:rPr>
              <a:t>• </a:t>
            </a:r>
            <a:r>
              <a:rPr sz="1500" b="1">
                <a:solidFill>
                  <a:srgbClr val="14283B"/>
                </a:solidFill>
                <a:latin typeface="Aptos"/>
              </a:rPr>
              <a:t>Recommend actions — </a:t>
            </a:r>
            <a:r>
              <a:rPr sz="1500">
                <a:solidFill>
                  <a:srgbClr val="14283B"/>
                </a:solidFill>
                <a:latin typeface="Aptos"/>
              </a:rPr>
              <a:t>convert findings into business decisions.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A Superstore-style dataset provided enough breadth for multi-dimensional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Dataset description and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73152" cy="120700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55648"/>
            <a:ext cx="21488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3317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ORDER LINE ITEMS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572768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572768"/>
            <a:ext cx="73152" cy="120700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755648"/>
            <a:ext cx="21488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2022–25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3317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REPORTING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70448" y="1572768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0448" y="1572768"/>
            <a:ext cx="73152" cy="1207008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755648"/>
            <a:ext cx="21488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3317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CUSTOMER SEGMENTS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22208" y="1572768"/>
            <a:ext cx="31089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22208" y="1572768"/>
            <a:ext cx="73152" cy="1207008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1755648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0–50%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3317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DISCOUNT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24612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49039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D4A72C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Order and ship dates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D4A72C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Customer, segment and ship mode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D4A72C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Region, state and city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D4A72C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Category and sub-category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4612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B1F33"/>
                </a:solidFill>
                <a:latin typeface="Aptos Display"/>
              </a:rPr>
              <a:t>Measures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749039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88F91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Sales revenue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88F91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Quantity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88F91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Discount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 b="1">
                <a:solidFill>
                  <a:srgbClr val="188F91"/>
                </a:solidFill>
                <a:latin typeface="Aptos"/>
              </a:rPr>
              <a:t>• </a:t>
            </a:r>
            <a:r>
              <a:rPr sz="1500">
                <a:solidFill>
                  <a:srgbClr val="14283B"/>
                </a:solidFill>
                <a:latin typeface="Aptos"/>
              </a:rPr>
              <a:t>Profit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246120"/>
            <a:ext cx="4224528" cy="21488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5478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Display"/>
              </a:rPr>
              <a:t>Calculated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0690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FFFFFF"/>
                </a:solidFill>
                <a:latin typeface="Aptos"/>
              </a:rPr>
              <a:t>Ship Delay (Days)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FFFFFF"/>
                </a:solidFill>
                <a:latin typeface="Aptos"/>
              </a:rPr>
              <a:t>Profit Margin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FFFFFF"/>
                </a:solidFill>
                <a:latin typeface="Aptos"/>
              </a:rPr>
              <a:t>Order Year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FFFFFF"/>
                </a:solidFill>
                <a:latin typeface="Aptos"/>
              </a:rPr>
              <a:t>Order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9893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E6C7A"/>
                </a:solidFill>
                <a:latin typeface="Aptos"/>
              </a:rPr>
              <a:t>Source: Kaggle — Superstore Sales Dataset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The project followed a complete analytics workflow from raw data to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Methodology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1389888" cy="512064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Kaggle retail orders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93392" y="2221992"/>
            <a:ext cx="384048" cy="0"/>
          </a:xfrm>
          <a:prstGeom prst="line">
            <a:avLst/>
          </a:prstGeom>
          <a:ln w="16510">
            <a:solidFill>
              <a:srgbClr val="A9B4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450592" y="1965960"/>
            <a:ext cx="1389888" cy="512064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Excel validation and fixes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77056" y="2221992"/>
            <a:ext cx="384048" cy="0"/>
          </a:xfrm>
          <a:prstGeom prst="line">
            <a:avLst/>
          </a:prstGeom>
          <a:ln w="16510">
            <a:solidFill>
              <a:srgbClr val="A9B4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334256" y="1965960"/>
            <a:ext cx="1389888" cy="512064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Calculated columns and measures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2221992"/>
            <a:ext cx="384048" cy="0"/>
          </a:xfrm>
          <a:prstGeom prst="line">
            <a:avLst/>
          </a:prstGeom>
          <a:ln w="16510">
            <a:solidFill>
              <a:srgbClr val="A9B4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17920" y="1965960"/>
            <a:ext cx="1389888" cy="512064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Trends, geography, products, discounts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44383" y="2221992"/>
            <a:ext cx="384048" cy="0"/>
          </a:xfrm>
          <a:prstGeom prst="line">
            <a:avLst/>
          </a:prstGeom>
          <a:ln w="16510">
            <a:solidFill>
              <a:srgbClr val="A9B4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101583" y="1965960"/>
            <a:ext cx="1389888" cy="512064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3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One-page interactive Power BI dashboard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28048" y="2221992"/>
            <a:ext cx="384048" cy="0"/>
          </a:xfrm>
          <a:prstGeom prst="line">
            <a:avLst/>
          </a:prstGeom>
          <a:ln w="16510">
            <a:solidFill>
              <a:srgbClr val="A9B4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985248" y="1965960"/>
            <a:ext cx="1389888" cy="512064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67544" y="2048256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1F33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1984248"/>
            <a:ext cx="877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1F33"/>
                </a:solidFill>
                <a:latin typeface="Aptos Display"/>
              </a:rPr>
              <a:t>Recommend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770632"/>
            <a:ext cx="13898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283B"/>
                </a:solidFill>
                <a:latin typeface="Aptos"/>
              </a:rPr>
              <a:t>Business actions from 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4663440"/>
            <a:ext cx="9902952" cy="1024128"/>
          </a:xfrm>
          <a:prstGeom prst="rect">
            <a:avLst/>
          </a:prstGeom>
          <a:solidFill>
            <a:srgbClr val="F7F5EF"/>
          </a:solidFill>
          <a:ln w="12700">
            <a:solidFill>
              <a:srgbClr val="D0D6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495604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846320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1F33"/>
                </a:solidFill>
                <a:latin typeface="Aptos"/>
              </a:rPr>
              <a:t>Microsoft Excel</a:t>
            </a:r>
            <a:r>
              <a:rPr sz="1400" b="0" i="0">
                <a:solidFill>
                  <a:srgbClr val="5E6C7A"/>
                </a:solidFill>
                <a:latin typeface="Aptos"/>
              </a:rPr>
              <a:t>  for data cleaning   →   </a:t>
            </a:r>
            <a:r>
              <a:rPr sz="1700" b="1" i="0">
                <a:solidFill>
                  <a:srgbClr val="0B1F33"/>
                </a:solidFill>
                <a:latin typeface="Aptos"/>
              </a:rPr>
              <a:t>Microsoft Power BI</a:t>
            </a:r>
            <a:r>
              <a:rPr sz="1400" b="0" i="0">
                <a:solidFill>
                  <a:srgbClr val="5E6C7A"/>
                </a:solidFill>
                <a:latin typeface="Aptos"/>
              </a:rPr>
              <a:t>  for modeling, measures, visualization and interaction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Data quality checks created a reliable foundation for every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Cleaning and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00200"/>
            <a:ext cx="82296" cy="166420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196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76479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9514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Removed repeated order records during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00200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600200"/>
            <a:ext cx="82296" cy="166420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8196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76479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Missing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29514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Imputed 0 where no discount value was present.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62672" y="1600200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62672" y="1600200"/>
            <a:ext cx="82296" cy="166420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8196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64792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Date integrity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229514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Converted Order Date and Ship Date to true date fields.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30752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730752"/>
            <a:ext cx="82296" cy="166420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5020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3895344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Standardization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2569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Applied consistent date and numeric formats.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3730752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3730752"/>
            <a:ext cx="82296" cy="166420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395020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3895344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Calculated fields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442569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Added delay, margin, year and month.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62672" y="3730752"/>
            <a:ext cx="32004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62672" y="3730752"/>
            <a:ext cx="82296" cy="166420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395020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895344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B1F33"/>
                </a:solidFill>
                <a:latin typeface="Aptos Display"/>
              </a:rPr>
              <a:t>Model-ready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442569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E6C7A"/>
                </a:solidFill>
                <a:latin typeface="Aptos"/>
              </a:rPr>
              <a:t>Created Raw_Data and Cleaned_Data sheets.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The one-page design balances monitoring, diagnosis and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Dashboard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64208"/>
            <a:ext cx="2468880" cy="4224528"/>
          </a:xfrm>
          <a:prstGeom prst="rect">
            <a:avLst/>
          </a:prstGeom>
          <a:solidFill>
            <a:srgbClr val="142B40"/>
          </a:solidFill>
          <a:ln w="12700">
            <a:solidFill>
              <a:srgbClr val="364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64208"/>
            <a:ext cx="2468880" cy="10972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29968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1892807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42586D"/>
                </a:solidFill>
                <a:latin typeface="Aptos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889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6 KPI cards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Sales trend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D4A72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Performance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266944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4A72C"/>
                </a:solidFill>
                <a:latin typeface="Aptos"/>
              </a:rPr>
              <a:t>What happened?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664208"/>
            <a:ext cx="2468880" cy="4224528"/>
          </a:xfrm>
          <a:prstGeom prst="rect">
            <a:avLst/>
          </a:prstGeom>
          <a:solidFill>
            <a:srgbClr val="142B40"/>
          </a:solidFill>
          <a:ln w="12700">
            <a:solidFill>
              <a:srgbClr val="364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664208"/>
            <a:ext cx="2468880" cy="10972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029968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892807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42586D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27889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88F91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Region and state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88F91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Category and sub-category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188F91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Customers and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5266944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8F91"/>
                </a:solidFill>
                <a:latin typeface="Aptos"/>
              </a:rPr>
              <a:t>Where did it happen?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664208"/>
            <a:ext cx="2468880" cy="4224528"/>
          </a:xfrm>
          <a:prstGeom prst="rect">
            <a:avLst/>
          </a:prstGeom>
          <a:solidFill>
            <a:srgbClr val="142B40"/>
          </a:solidFill>
          <a:ln w="12700">
            <a:solidFill>
              <a:srgbClr val="364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664208"/>
            <a:ext cx="2468880" cy="109728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029968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1892807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42586D"/>
                </a:solidFill>
                <a:latin typeface="Aptos Display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27889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4C4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Discount vs margin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4C4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Segment share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C94C4C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Shipping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266944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4C4C"/>
                </a:solidFill>
                <a:latin typeface="Aptos"/>
              </a:rPr>
              <a:t>Why did it happen?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33687" y="1664208"/>
            <a:ext cx="2468880" cy="4224528"/>
          </a:xfrm>
          <a:prstGeom prst="rect">
            <a:avLst/>
          </a:prstGeom>
          <a:solidFill>
            <a:srgbClr val="142B40"/>
          </a:solidFill>
          <a:ln w="12700">
            <a:solidFill>
              <a:srgbClr val="364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33687" y="1664208"/>
            <a:ext cx="2468880" cy="109728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3143" y="2029968"/>
            <a:ext cx="1261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EXPLORE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25327" y="1892807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42586D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3" y="2788920"/>
            <a:ext cx="2011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4BA5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5 slicers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4BA5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Cross-filtering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6B4BA5"/>
                </a:solidFill>
                <a:latin typeface="Aptos"/>
              </a:rPr>
              <a:t>• </a:t>
            </a:r>
            <a:r>
              <a:rPr sz="1350">
                <a:solidFill>
                  <a:srgbClr val="D7E0E7"/>
                </a:solidFill>
                <a:latin typeface="Aptos"/>
              </a:rPr>
              <a:t>Reset bookmark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3" y="5266944"/>
            <a:ext cx="19933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4BA5"/>
                </a:solidFill>
                <a:latin typeface="Aptos"/>
              </a:rPr>
              <a:t>What if we filter?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7B8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Retail Sales Performance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Original project screenshot from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4873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9C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005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27048"/>
            <a:ext cx="10872216" cy="466344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Figure 1 · Retail Sales Performance Dashboard (Power 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Overall performance is profitable, with a geographically balanced sales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Key performance indicators and regional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08760"/>
            <a:ext cx="73152" cy="1152144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$10.04M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TOTAL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4016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14016" y="1508760"/>
            <a:ext cx="73152" cy="1152144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$1.39M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TOTAL PROFIT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1104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1104" y="1508760"/>
            <a:ext cx="73152" cy="1152144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4.2K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TOTAL ORDERS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8192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8192" y="1508760"/>
            <a:ext cx="73152" cy="1152144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13.86%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PROFIT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508760"/>
            <a:ext cx="73152" cy="1152144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$2.39K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AVG ORDER VALUE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1508760"/>
            <a:ext cx="164592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02367" y="1508760"/>
            <a:ext cx="73152" cy="1152144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1691639"/>
            <a:ext cx="1280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3"/>
                </a:solidFill>
                <a:latin typeface="Aptos Display"/>
              </a:rPr>
              <a:t>12.65%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2677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E6C7A"/>
                </a:solidFill>
                <a:latin typeface="Aptos"/>
              </a:rPr>
              <a:t>AVG DISCOUNT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272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REGIONAL 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5844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West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4248" y="3611879"/>
            <a:ext cx="315468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84248" y="3611879"/>
            <a:ext cx="3154680" cy="20116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5478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$2.55M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1513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South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84248" y="4178808"/>
            <a:ext cx="315468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84248" y="4178808"/>
            <a:ext cx="3105194" cy="20116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41148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$2.51M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1830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Central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745736"/>
            <a:ext cx="315468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84248" y="4745736"/>
            <a:ext cx="3080452" cy="201168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0368" y="468172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$2.49M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285231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East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4248" y="5312664"/>
            <a:ext cx="315468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84248" y="5312664"/>
            <a:ext cx="3080452" cy="201168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5248655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$2.49M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0840" y="3218688"/>
            <a:ext cx="4919472" cy="233172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35204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MANAGEMENT JUDGMENT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005072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 Display"/>
              </a:rPr>
              <a:t>No single region dominates.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645152"/>
            <a:ext cx="40050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2DCE4"/>
                </a:solidFill>
                <a:latin typeface="Aptos"/>
              </a:rPr>
              <a:t>Marketing investment can remain proportionate rather than being heavily skewed toward one geography.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Furniture looks strong on revenue but weak on profit—the central business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Category and product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CATEGORY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1993391"/>
            <a:ext cx="3977639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84248" y="1993391"/>
            <a:ext cx="3977639" cy="20116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7" y="192938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$6.76M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2276856"/>
            <a:ext cx="5074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8F91"/>
                </a:solidFill>
                <a:latin typeface="Aptos"/>
              </a:rPr>
              <a:t>17.11%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7180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Furniture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999232"/>
            <a:ext cx="3977639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4248" y="2999232"/>
            <a:ext cx="1306266" cy="201168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7" y="293522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$2.22M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282696"/>
            <a:ext cx="5074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4C4C"/>
                </a:solidFill>
                <a:latin typeface="Aptos"/>
              </a:rPr>
              <a:t>2.39%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77639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Office Supplies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4248" y="4005072"/>
            <a:ext cx="3977639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84248" y="4005072"/>
            <a:ext cx="617828" cy="20116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7" y="3941063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 Display"/>
              </a:rPr>
              <a:t>$1.05M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4248" y="4288536"/>
            <a:ext cx="50749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88F91"/>
                </a:solidFill>
                <a:latin typeface="Aptos"/>
              </a:rPr>
              <a:t>17.19%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7" y="1600200"/>
            <a:ext cx="4206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iscount_scatter_detail.png"/>
          <p:cNvPicPr>
            <a:picLocks noChangeAspect="1"/>
          </p:cNvPicPr>
          <p:nvPr/>
        </p:nvPicPr>
        <p:blipFill>
          <a:blip r:embed="rId2"/>
          <a:srcRect l="5471" r="0"/>
          <a:stretch>
            <a:fillRect/>
          </a:stretch>
        </p:blipFill>
        <p:spPr>
          <a:xfrm>
            <a:off x="7525512" y="1700784"/>
            <a:ext cx="4005072" cy="267919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424927" y="4663440"/>
            <a:ext cx="4206240" cy="123444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35824" y="489204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4A72C"/>
                </a:solidFill>
                <a:latin typeface="Aptos"/>
              </a:rPr>
              <a:t>DISCOUNT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5230368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FFFFF"/>
                </a:solidFill>
                <a:latin typeface="Aptos"/>
              </a:rPr>
              <a:t>40–50% discounts cluster in negative-margin territory; Tables and Bookcases need the closest review.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Consumer demand and Standard Class shipping define the operating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Customer segment and shipping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SALES BY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83B"/>
                </a:solidFill>
                <a:latin typeface="Aptos"/>
              </a:rPr>
              <a:t>Consumer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139696"/>
            <a:ext cx="2971800" cy="219456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2139696"/>
            <a:ext cx="2560701" cy="219456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2084831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3"/>
                </a:solidFill>
                <a:latin typeface="Aptos Display"/>
              </a:rPr>
              <a:t>51.7%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44368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83B"/>
                </a:solidFill>
                <a:latin typeface="Aptos"/>
              </a:rPr>
              <a:t>Corporate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980944"/>
            <a:ext cx="2971800" cy="219456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2980944"/>
            <a:ext cx="1456182" cy="219456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926079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3"/>
                </a:solidFill>
                <a:latin typeface="Aptos Display"/>
              </a:rPr>
              <a:t>29.4%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85615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83B"/>
                </a:solidFill>
                <a:latin typeface="Aptos"/>
              </a:rPr>
              <a:t>Home Office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3822191"/>
            <a:ext cx="2971800" cy="219456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03120" y="3822191"/>
            <a:ext cx="931164" cy="219456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376732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1F33"/>
                </a:solidFill>
                <a:latin typeface="Aptos Display"/>
              </a:rPr>
              <a:t>18.8%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27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ORDERS BY SHIP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0312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Standard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2139696"/>
            <a:ext cx="260604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2139696"/>
            <a:ext cx="2562606" cy="201168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2084831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 Display"/>
              </a:rPr>
              <a:t>59%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3405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Second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770632"/>
            <a:ext cx="260604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2770632"/>
            <a:ext cx="868680" cy="201168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0" y="2715768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 Display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6499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First Class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3401568"/>
            <a:ext cx="260604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9" y="3401568"/>
            <a:ext cx="694944" cy="201168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3346703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 Display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95927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B"/>
                </a:solidFill>
                <a:latin typeface="Aptos"/>
              </a:rPr>
              <a:t>Same 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032503"/>
            <a:ext cx="2606040" cy="201168"/>
          </a:xfrm>
          <a:prstGeom prst="rect">
            <a:avLst/>
          </a:prstGeom>
          <a:solidFill>
            <a:srgbClr val="E8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79" y="4032503"/>
            <a:ext cx="217170" cy="201168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8480" y="3977639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3"/>
                </a:solidFill>
                <a:latin typeface="Aptos Display"/>
              </a:rPr>
              <a:t>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892040"/>
            <a:ext cx="11064240" cy="93268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184648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4A72C"/>
                </a:solidFill>
                <a:latin typeface="Aptos"/>
              </a:rPr>
              <a:t>Business implication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50592" y="50749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Use tiered loyalty and repeat-purchase incentives to protect the Consumer base while maintaining reliable Standard Class operations.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Five actions convert the dashboard insights into measurable business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ptos"/>
              </a:rPr>
              <a:t>Recommendations and implementation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4C4C"/>
                </a:solidFill>
                <a:latin typeface="Aptos"/>
              </a:rPr>
              <a:t>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572768"/>
            <a:ext cx="45720" cy="713232"/>
          </a:xfrm>
          <a:prstGeom prst="rect">
            <a:avLst/>
          </a:prstGeom>
          <a:solidFill>
            <a:srgbClr val="C9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1" y="1563624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Cap Furniture discounts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563624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D5DFE6"/>
                </a:solidFill>
                <a:latin typeface="Aptos"/>
              </a:rPr>
              <a:t>Restrict approvals beyond ~30%, especially for Tables and Bookcases.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2377440"/>
            <a:ext cx="10552176" cy="0"/>
          </a:xfrm>
          <a:prstGeom prst="line">
            <a:avLst/>
          </a:prstGeom>
          <a:ln w="8890">
            <a:solidFill>
              <a:srgbClr val="2E4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257860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478024"/>
            <a:ext cx="45720" cy="71323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1" y="246888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Audit high-value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68880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D5DFE6"/>
                </a:solidFill>
                <a:latin typeface="Aptos"/>
              </a:rPr>
              <a:t>Review margin leakage before large Furniture orders are approved.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3282696"/>
            <a:ext cx="10552176" cy="0"/>
          </a:xfrm>
          <a:prstGeom prst="line">
            <a:avLst/>
          </a:prstGeom>
          <a:ln w="8890">
            <a:solidFill>
              <a:srgbClr val="2E4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348386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8F91"/>
                </a:solidFill>
                <a:latin typeface="Aptos"/>
              </a:rPr>
              <a:t>NEXT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10512" y="3383280"/>
            <a:ext cx="45720" cy="713232"/>
          </a:xfrm>
          <a:prstGeom prst="rect">
            <a:avLst/>
          </a:prstGeom>
          <a:solidFill>
            <a:srgbClr val="188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1" y="3374136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Scale Technology winners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374136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D5DFE6"/>
                </a:solidFill>
                <a:latin typeface="Aptos"/>
              </a:rPr>
              <a:t>Expand Copiers and Machines while protecting current margins.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4187952"/>
            <a:ext cx="10552176" cy="0"/>
          </a:xfrm>
          <a:prstGeom prst="line">
            <a:avLst/>
          </a:prstGeom>
          <a:ln w="8890">
            <a:solidFill>
              <a:srgbClr val="2E4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43891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B4BA5"/>
                </a:solidFill>
                <a:latin typeface="Aptos"/>
              </a:rPr>
              <a:t>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10512" y="4288536"/>
            <a:ext cx="45720" cy="713232"/>
          </a:xfrm>
          <a:prstGeom prst="rect">
            <a:avLst/>
          </a:prstGeom>
          <a:solidFill>
            <a:srgbClr val="6B4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1" y="427939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Strengthen Consumer 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279392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D5DFE6"/>
                </a:solidFill>
                <a:latin typeface="Aptos"/>
              </a:rPr>
              <a:t>Use tiered rewards and repeat-purchase incentives.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" y="5093207"/>
            <a:ext cx="10552176" cy="0"/>
          </a:xfrm>
          <a:prstGeom prst="line">
            <a:avLst/>
          </a:prstGeom>
          <a:ln w="8890">
            <a:solidFill>
              <a:srgbClr val="2E43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529437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ONGOING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10512" y="5193792"/>
            <a:ext cx="45720" cy="71323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4831" y="5184648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Balance regional spend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5184648"/>
            <a:ext cx="60807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D5DFE6"/>
                </a:solidFill>
                <a:latin typeface="Aptos"/>
              </a:rPr>
              <a:t>Allocate proportionally because regional sales are closely matched.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7B89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ptos"/>
              </a:rPr>
              <a:t>Retail Sales Performance Dashboard · Viva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0126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1F33"/>
                </a:solidFill>
                <a:latin typeface="Aptos Display"/>
              </a:rPr>
              <a:t>The current dashboard is descriptive; the next step is a connected, predictive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43584"/>
            <a:ext cx="118872" cy="118872"/>
          </a:xfrm>
          <a:prstGeom prst="rect">
            <a:avLst/>
          </a:prstGeom>
          <a:solidFill>
            <a:srgbClr val="D4A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9576"/>
            <a:ext cx="9784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C7A"/>
                </a:solidFill>
                <a:latin typeface="Aptos"/>
              </a:rPr>
              <a:t>Limitations, future scope and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438912"/>
            <a:ext cx="530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C7A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4C4C"/>
                </a:solidFill>
                <a:latin typeface="Aptos"/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84248"/>
            <a:ext cx="4343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94C4C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Fixed 2022–2025 historical window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94C4C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Limited customer attributes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94C4C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No macro, competitor or marketing inputs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C94C4C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No forward-looking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572768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8F91"/>
                </a:solidFill>
                <a:latin typeface="Aptos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84248"/>
            <a:ext cx="55778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88F91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AI-based sales and profit forecasting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88F91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Live database and automatic refresh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88F91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Low-margin order risk alerts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88F91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Mobile-optimized dashboard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450" b="1">
                <a:solidFill>
                  <a:srgbClr val="188F91"/>
                </a:solidFill>
                <a:latin typeface="Aptos"/>
              </a:rPr>
              <a:t>• </a:t>
            </a:r>
            <a:r>
              <a:rPr sz="1450">
                <a:solidFill>
                  <a:srgbClr val="14283B"/>
                </a:solidFill>
                <a:latin typeface="Aptos"/>
              </a:rPr>
              <a:t>Scheduled KPI email 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892040"/>
            <a:ext cx="11064240" cy="102412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5202936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4A72C"/>
                </a:solidFill>
                <a:latin typeface="Aptos"/>
              </a:rPr>
              <a:t>VIVA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5074920"/>
            <a:ext cx="8641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Aptos Display"/>
              </a:rPr>
              <a:t>Clean data + focused visuals revealed that discounting—not weak demand—is the main cause of Furniture margin erosion.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528816"/>
            <a:ext cx="11064240" cy="0"/>
          </a:xfrm>
          <a:prstGeom prst="line">
            <a:avLst/>
          </a:prstGeom>
          <a:ln w="7620">
            <a:solidFill>
              <a:srgbClr val="D0D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6574536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E6C7A"/>
                </a:solidFill>
                <a:latin typeface="Aptos"/>
              </a:rPr>
              <a:t>References: Kaggle Superstore Sales Dataset · Microsoft Power BI · Microsoft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56248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E6C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